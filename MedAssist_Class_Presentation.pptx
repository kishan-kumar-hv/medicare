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project solves missed medication issues using reminders, status tracking, and caretaker escalation.</a:t>
            </a:r>
          </a:p>
          <a:p>
            <a:r>
              <a:t>It supports both guardian and patient roles with secure login.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main challenge is reliability in daily adherence, not just storing prescriptions.</a:t>
            </a:r>
          </a:p>
          <a:p>
            <a:r>
              <a:t>The platform focuses on end-to-end workflow from schedule creation to escalation.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only a UI prototype; it includes backend APIs and persistent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used a lightweight but production-style architecture.</a:t>
            </a:r>
          </a:p>
          <a:p>
            <a:r>
              <a:t>Vite proxy forwards frontend /api requests to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is modular: UI, API layer, persistence, and notification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business logic is split between App.jsx on frontend and server/index.js on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notifications table is important for auditability and caregiver 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protects sensitive patient workflow and prevents unauthorized edits.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Medication now links only to valid patient accounts, so patient side always receives schedules.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closes the loop between patient action and caretaker awareness.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Automated and manual escalation both exist for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Hassan tab gives quick local view, and directory tab supports all districts.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Designed to feel product-like, not basic classroom CRUD.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API layer allows easy extension to mobile apps in future.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impact: better adherence, faster escalation, better local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B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914400"/>
            <a:ext cx="2926080" cy="457200"/>
          </a:xfrm>
          <a:prstGeom prst="roundRect">
            <a:avLst/>
          </a:prstGeom>
          <a:solidFill>
            <a:srgbClr val="14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CB2A3"/>
                </a:solidFill>
              </a:defRPr>
            </a:pPr>
            <a:r>
              <a:t>Class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4F8FC"/>
                </a:solidFill>
              </a:defRPr>
            </a:pPr>
            <a:r>
              <a:t>** MedAssist Care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B9CEE4"/>
                </a:solidFill>
              </a:defRPr>
            </a:pPr>
            <a:r>
              <a:t>** Smart Guardian-Patient Medication Management with Alerts and Escalation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2062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FDDEB"/>
                </a:solidFill>
              </a:defRPr>
            </a:pPr>
            <a:r>
              <a:t>Presented by: [Your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6634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FDDEB"/>
                </a:solidFill>
              </a:defRPr>
            </a:pPr>
            <a:r>
              <a:t>Department / Class: [Your Class]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2636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9CEE4"/>
                </a:solidFill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B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4F8FC"/>
                </a:solidFill>
              </a:defRPr>
            </a:pPr>
            <a:r>
              <a:t>** Problem We Are Solving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0881360" cy="4526280"/>
          </a:xfrm>
          <a:prstGeom prst="roundRect">
            <a:avLst/>
          </a:prstGeom>
          <a:solidFill>
            <a:srgbClr val="142C48"/>
          </a:solidFill>
          <a:ln>
            <a:solidFill>
              <a:srgbClr val="2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4F8FC"/>
                </a:solidFill>
              </a:defRPr>
            </a:pPr>
            <a:r>
              <a:t>• Patients often miss medicine timings.</a:t>
            </a:r>
          </a:p>
          <a:p>
            <a:pPr>
              <a:spcAft>
                <a:spcPts val="800"/>
              </a:spcAft>
              <a:defRPr sz="2200">
                <a:solidFill>
                  <a:srgbClr val="F4F8FC"/>
                </a:solidFill>
              </a:defRPr>
            </a:pPr>
            <a:r>
              <a:t>• Caretakers do not get timely status updates.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Guardian-entered medication plans may not be tracked properly.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People also need nearby medical stores/hospitals quickly.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2636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9CEE4"/>
                </a:solidFill>
              </a:defRPr>
            </a:pPr>
            <a: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B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4F8FC"/>
                </a:solidFill>
              </a:defRPr>
            </a:pPr>
            <a:r>
              <a:t>** Our Solution: MedAssist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0881360" cy="4526280"/>
          </a:xfrm>
          <a:prstGeom prst="roundRect">
            <a:avLst/>
          </a:prstGeom>
          <a:solidFill>
            <a:srgbClr val="142C48"/>
          </a:solidFill>
          <a:ln>
            <a:solidFill>
              <a:srgbClr val="2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4F8FC"/>
                </a:solidFill>
              </a:defRPr>
            </a:pPr>
            <a:r>
              <a:t>• Two role-based portals: Guardian and Patient.</a:t>
            </a:r>
          </a:p>
          <a:p>
            <a:pPr>
              <a:spcAft>
                <a:spcPts val="800"/>
              </a:spcAft>
              <a:defRPr sz="2200">
                <a:solidFill>
                  <a:srgbClr val="F4F8FC"/>
                </a:solidFill>
              </a:defRPr>
            </a:pPr>
            <a:r>
              <a:t>• Real backend with authentication and database.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Due reminders, missed-dose escalation, caretaker SMS/call alerts.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Karnataka district-wise medical and hospital directory.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Premium landing pages: Home, About, Premium, Login.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2636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9CEE4"/>
                </a:solidFill>
              </a:defRPr>
            </a:pPr>
            <a: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B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4F8FC"/>
                </a:solidFill>
              </a:defRPr>
            </a:pPr>
            <a:r>
              <a:t>**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0881360" cy="4526280"/>
          </a:xfrm>
          <a:prstGeom prst="roundRect">
            <a:avLst/>
          </a:prstGeom>
          <a:solidFill>
            <a:srgbClr val="142C48"/>
          </a:solidFill>
          <a:ln>
            <a:solidFill>
              <a:srgbClr val="2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4F8FC"/>
                </a:solidFill>
              </a:defRPr>
            </a:pPr>
            <a:r>
              <a:t>• Frontend: React + Vite</a:t>
            </a:r>
          </a:p>
          <a:p>
            <a:pPr>
              <a:spcAft>
                <a:spcPts val="800"/>
              </a:spcAft>
              <a:defRPr sz="2200">
                <a:solidFill>
                  <a:srgbClr val="F4F8FC"/>
                </a:solidFill>
              </a:defRPr>
            </a:pPr>
            <a:r>
              <a:t>• Backend: Node.js HTTP server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Database: SQLite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Authentication: Token sessions + PBKDF2 password hashing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External APIs: Twilio (SMS/Call), NewsAPI, OpenStreetMap Overpass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2636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9CEE4"/>
                </a:solidFill>
              </a:defRPr>
            </a:pPr>
            <a: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B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4F8FC"/>
                </a:solidFill>
              </a:defRPr>
            </a:pPr>
            <a:r>
              <a:t>** High-Level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0881360" cy="4526280"/>
          </a:xfrm>
          <a:prstGeom prst="roundRect">
            <a:avLst/>
          </a:prstGeom>
          <a:solidFill>
            <a:srgbClr val="142C48"/>
          </a:solidFill>
          <a:ln>
            <a:solidFill>
              <a:srgbClr val="2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4F8FC"/>
                </a:solidFill>
              </a:defRPr>
            </a:pPr>
            <a:r>
              <a:t>• User uses React web app.</a:t>
            </a:r>
          </a:p>
          <a:p>
            <a:pPr>
              <a:spcAft>
                <a:spcPts val="800"/>
              </a:spcAft>
              <a:defRPr sz="2200">
                <a:solidFill>
                  <a:srgbClr val="F4F8FC"/>
                </a:solidFill>
              </a:defRPr>
            </a:pPr>
            <a:r>
              <a:t>• Frontend calls backend REST APIs.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Backend validates auth and business logic.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Data stored in SQLite tables.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Scheduler checks overdue medicines every minute.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Twilio APIs send SMS/calls for escalation.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2636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9CEE4"/>
                </a:solidFill>
              </a:defRPr>
            </a:pPr>
            <a: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B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4F8FC"/>
                </a:solidFill>
              </a:defRPr>
            </a:pPr>
            <a:r>
              <a:t>** Project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0881360" cy="4526280"/>
          </a:xfrm>
          <a:prstGeom prst="roundRect">
            <a:avLst/>
          </a:prstGeom>
          <a:solidFill>
            <a:srgbClr val="142C48"/>
          </a:solidFill>
          <a:ln>
            <a:solidFill>
              <a:srgbClr val="2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4F8FC"/>
                </a:solidFill>
              </a:defRPr>
            </a:pPr>
            <a:r>
              <a:t>• /Users/kishan/Desktop/MedCareGuardianApp/src/main.jsx - app entry point</a:t>
            </a:r>
          </a:p>
          <a:p>
            <a:pPr>
              <a:spcAft>
                <a:spcPts val="800"/>
              </a:spcAft>
              <a:defRPr sz="2200">
                <a:solidFill>
                  <a:srgbClr val="F4F8FC"/>
                </a:solidFill>
              </a:defRPr>
            </a:pPr>
            <a:r>
              <a:t>• /Users/kishan/Desktop/MedCareGuardianApp/src/App.jsx - full UI + state logic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/Users/kishan/Desktop/MedCareGuardianApp/src/api.js - all backend API wrappers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/Users/kishan/Desktop/MedCareGuardianApp/src/countryCodes.js - global dial codes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/Users/kishan/Desktop/MedCareGuardianApp/server/index.js - backend + routes + scheduler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/Users/kishan/Desktop/MedCareGuardianApp/server/data/medassist.sqlite -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2636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9CEE4"/>
                </a:solidFill>
              </a:defRPr>
            </a:pPr>
            <a: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B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4F8FC"/>
                </a:solidFill>
              </a:defRPr>
            </a:pPr>
            <a:r>
              <a:t>** Database Tables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0881360" cy="4526280"/>
          </a:xfrm>
          <a:prstGeom prst="roundRect">
            <a:avLst/>
          </a:prstGeom>
          <a:solidFill>
            <a:srgbClr val="142C48"/>
          </a:solidFill>
          <a:ln>
            <a:solidFill>
              <a:srgbClr val="2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4F8FC"/>
                </a:solidFill>
              </a:defRPr>
            </a:pPr>
            <a:r>
              <a:t>• users - account details and role (guardian/patient)</a:t>
            </a:r>
          </a:p>
          <a:p>
            <a:pPr>
              <a:spcAft>
                <a:spcPts val="800"/>
              </a:spcAft>
              <a:defRPr sz="2200">
                <a:solidFill>
                  <a:srgbClr val="F4F8FC"/>
                </a:solidFill>
              </a:defRPr>
            </a:pPr>
            <a:r>
              <a:t>• sessions - token hashes and expiry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medications - guardian-created schedules for patients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logs - per-day medication status (taken/escalated)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notifications - sent reminder/escalation/taken SMS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2636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9CEE4"/>
                </a:solidFill>
              </a:defRPr>
            </a:pPr>
            <a: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B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4F8FC"/>
                </a:solidFill>
              </a:defRPr>
            </a:pPr>
            <a:r>
              <a:t>** Security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0881360" cy="4526280"/>
          </a:xfrm>
          <a:prstGeom prst="roundRect">
            <a:avLst/>
          </a:prstGeom>
          <a:solidFill>
            <a:srgbClr val="142C48"/>
          </a:solidFill>
          <a:ln>
            <a:solidFill>
              <a:srgbClr val="2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4F8FC"/>
                </a:solidFill>
              </a:defRPr>
            </a:pPr>
            <a:r>
              <a:t>• Passwords stored as hash + salt (PBKDF2), never plain text.</a:t>
            </a:r>
          </a:p>
          <a:p>
            <a:pPr>
              <a:spcAft>
                <a:spcPts val="800"/>
              </a:spcAft>
              <a:defRPr sz="2200">
                <a:solidFill>
                  <a:srgbClr val="F4F8FC"/>
                </a:solidFill>
              </a:defRPr>
            </a:pPr>
            <a:r>
              <a:t>• Login returns session token.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Protected routes require bearer token.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Role-based authorization for guardian-only and patient-only actions.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Basic login attempt throttling.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2636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9CEE4"/>
                </a:solidFill>
              </a:defRPr>
            </a:pPr>
            <a: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B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4F8FC"/>
                </a:solidFill>
              </a:defRPr>
            </a:pPr>
            <a:r>
              <a:t>** Guardian Interface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0881360" cy="4526280"/>
          </a:xfrm>
          <a:prstGeom prst="roundRect">
            <a:avLst/>
          </a:prstGeom>
          <a:solidFill>
            <a:srgbClr val="142C48"/>
          </a:solidFill>
          <a:ln>
            <a:solidFill>
              <a:srgbClr val="2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4F8FC"/>
                </a:solidFill>
              </a:defRPr>
            </a:pPr>
            <a:r>
              <a:t>• Guardian logs in.</a:t>
            </a:r>
          </a:p>
          <a:p>
            <a:pPr>
              <a:spcAft>
                <a:spcPts val="800"/>
              </a:spcAft>
              <a:defRPr sz="2200">
                <a:solidFill>
                  <a:srgbClr val="F4F8FC"/>
                </a:solidFill>
              </a:defRPr>
            </a:pPr>
            <a:r>
              <a:t>• Selects registered patient account.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Adds medicine, dosage, time, caretaker phone, notes.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Dashboard shows adherence metrics and trend charts.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Views notification history and directory tabs.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2636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9CEE4"/>
                </a:solidFill>
              </a:defRPr>
            </a:pPr>
            <a: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B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4F8FC"/>
                </a:solidFill>
              </a:defRPr>
            </a:pPr>
            <a:r>
              <a:t>** Patient Interface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0881360" cy="4526280"/>
          </a:xfrm>
          <a:prstGeom prst="roundRect">
            <a:avLst/>
          </a:prstGeom>
          <a:solidFill>
            <a:srgbClr val="142C48"/>
          </a:solidFill>
          <a:ln>
            <a:solidFill>
              <a:srgbClr val="2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4F8FC"/>
                </a:solidFill>
              </a:defRPr>
            </a:pPr>
            <a:r>
              <a:t>• Patient logs in.</a:t>
            </a:r>
          </a:p>
          <a:p>
            <a:pPr>
              <a:spcAft>
                <a:spcPts val="800"/>
              </a:spcAft>
              <a:defRPr sz="2200">
                <a:solidFill>
                  <a:srgbClr val="F4F8FC"/>
                </a:solidFill>
              </a:defRPr>
            </a:pPr>
            <a:r>
              <a:t>• Sees only schedules linked to their email.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Receives browser/sound reminder when due.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Marks dose as taken.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Caretaker gets status update SMS.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2636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9CEE4"/>
                </a:solidFill>
              </a:defRPr>
            </a:pPr>
            <a: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B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4F8FC"/>
                </a:solidFill>
              </a:defRPr>
            </a:pPr>
            <a:r>
              <a:t>** Reminder + Escalation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0881360" cy="4526280"/>
          </a:xfrm>
          <a:prstGeom prst="roundRect">
            <a:avLst/>
          </a:prstGeom>
          <a:solidFill>
            <a:srgbClr val="142C48"/>
          </a:solidFill>
          <a:ln>
            <a:solidFill>
              <a:srgbClr val="2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4F8FC"/>
                </a:solidFill>
              </a:defRPr>
            </a:pPr>
            <a:r>
              <a:t>• Backend scheduler runs every minute.</a:t>
            </a:r>
          </a:p>
          <a:p>
            <a:pPr>
              <a:spcAft>
                <a:spcPts val="800"/>
              </a:spcAft>
              <a:defRPr sz="2200">
                <a:solidFill>
                  <a:srgbClr val="F4F8FC"/>
                </a:solidFill>
              </a:defRPr>
            </a:pPr>
            <a:r>
              <a:t>• If dose is due: send reminder SMS.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If overdue by threshold (15 min): escalate.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Escalation sends missed SMS + optional Twilio call.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Manual escalation endpoint also 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2636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9CEE4"/>
                </a:solidFill>
              </a:defRPr>
            </a:pPr>
            <a: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B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4F8FC"/>
                </a:solidFill>
              </a:defRPr>
            </a:pPr>
            <a:r>
              <a:t>** Medical Stores and Hospitals Directory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0881360" cy="4526280"/>
          </a:xfrm>
          <a:prstGeom prst="roundRect">
            <a:avLst/>
          </a:prstGeom>
          <a:solidFill>
            <a:srgbClr val="142C48"/>
          </a:solidFill>
          <a:ln>
            <a:solidFill>
              <a:srgbClr val="2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4F8FC"/>
                </a:solidFill>
              </a:defRPr>
            </a:pPr>
            <a:r>
              <a:t>• District list for Karnataka.</a:t>
            </a:r>
          </a:p>
          <a:p>
            <a:pPr>
              <a:spcAft>
                <a:spcPts val="800"/>
              </a:spcAft>
              <a:defRPr sz="2200">
                <a:solidFill>
                  <a:srgbClr val="F4F8FC"/>
                </a:solidFill>
              </a:defRPr>
            </a:pPr>
            <a:r>
              <a:t>• Query by district and type (pharmacy/hospital/both).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Open/closed status parsing from available timings.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Map direction links for quick navigation.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2636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9CEE4"/>
                </a:solidFill>
              </a:defRPr>
            </a:pPr>
            <a: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B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4F8FC"/>
                </a:solidFill>
              </a:defRPr>
            </a:pPr>
            <a:r>
              <a:t>** UI and UX 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0881360" cy="4526280"/>
          </a:xfrm>
          <a:prstGeom prst="roundRect">
            <a:avLst/>
          </a:prstGeom>
          <a:solidFill>
            <a:srgbClr val="142C48"/>
          </a:solidFill>
          <a:ln>
            <a:solidFill>
              <a:srgbClr val="2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4F8FC"/>
                </a:solidFill>
              </a:defRPr>
            </a:pPr>
            <a:r>
              <a:t>• Premium landing pages: Home, About, Premium, Login.</a:t>
            </a:r>
          </a:p>
          <a:p>
            <a:pPr>
              <a:spcAft>
                <a:spcPts val="800"/>
              </a:spcAft>
              <a:defRPr sz="2200">
                <a:solidFill>
                  <a:srgbClr val="F4F8FC"/>
                </a:solidFill>
              </a:defRPr>
            </a:pPr>
            <a:r>
              <a:t>• Responsive layout for desktop/mobile.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Role-based tabs and charts.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Notification center and directory cards.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International phone input with country dial codes.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2636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9CEE4"/>
                </a:solidFill>
              </a:defRPr>
            </a:pPr>
            <a: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B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4F8FC"/>
                </a:solidFill>
              </a:defRPr>
            </a:pPr>
            <a:r>
              <a:t>** Key APIs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0881360" cy="4526280"/>
          </a:xfrm>
          <a:prstGeom prst="roundRect">
            <a:avLst/>
          </a:prstGeom>
          <a:solidFill>
            <a:srgbClr val="142C48"/>
          </a:solidFill>
          <a:ln>
            <a:solidFill>
              <a:srgbClr val="2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4F8FC"/>
                </a:solidFill>
              </a:defRPr>
            </a:pPr>
            <a:r>
              <a:t>• Auth: /api/auth/register, /api/auth/login, /api/auth/me, /api/auth/logout</a:t>
            </a:r>
          </a:p>
          <a:p>
            <a:pPr>
              <a:spcAft>
                <a:spcPts val="800"/>
              </a:spcAft>
              <a:defRPr sz="2200">
                <a:solidFill>
                  <a:srgbClr val="F4F8FC"/>
                </a:solidFill>
              </a:defRPr>
            </a:pPr>
            <a:r>
              <a:t>• Users: /api/users/patients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Medication: /api/medications, /api/medications/:id/taken, /api/medications/:id/escalate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Tracking: /api/logs, /api/notifications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Public data: /api/public/news, /api/public/pharmacies, /api/public/districts, /api/public/directory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2636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9CEE4"/>
                </a:solidFill>
              </a:defRPr>
            </a:pPr>
            <a: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B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4F8FC"/>
                </a:solidFill>
              </a:defRPr>
            </a:pPr>
            <a:r>
              <a:t>** Demo Flow +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0881360" cy="4526280"/>
          </a:xfrm>
          <a:prstGeom prst="roundRect">
            <a:avLst/>
          </a:prstGeom>
          <a:solidFill>
            <a:srgbClr val="142C48"/>
          </a:solidFill>
          <a:ln>
            <a:solidFill>
              <a:srgbClr val="2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4F8FC"/>
                </a:solidFill>
              </a:defRPr>
            </a:pPr>
            <a:r>
              <a:t>Demo plan:</a:t>
            </a:r>
          </a:p>
          <a:p>
            <a:pPr>
              <a:spcAft>
                <a:spcPts val="800"/>
              </a:spcAft>
              <a:defRPr sz="2200">
                <a:solidFill>
                  <a:srgbClr val="F4F8FC"/>
                </a:solidFill>
              </a:defRPr>
            </a:pPr>
            <a:r>
              <a:t>• Login as guardian and create schedule.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Login as patient and mark dose.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Show notification history update.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Show district directory and open-status cards.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Conclusion: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MedAssist provides practical, secure, and scalable medication adherence workflow.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It solves real coordination gaps between guardian, patient, and caretaker.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2636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9CEE4"/>
                </a:solidFill>
              </a:defRPr>
            </a:pPr>
            <a: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B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4F8FC"/>
                </a:solidFill>
              </a:defRPr>
            </a:pPr>
            <a:r>
              <a:t>## Optional Viva Questions (Prepare These)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0881360" cy="4526280"/>
          </a:xfrm>
          <a:prstGeom prst="roundRect">
            <a:avLst/>
          </a:prstGeom>
          <a:solidFill>
            <a:srgbClr val="142C48"/>
          </a:solidFill>
          <a:ln>
            <a:solidFill>
              <a:srgbClr val="2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4F8FC"/>
                </a:solidFill>
              </a:defRPr>
            </a:pPr>
            <a:r>
              <a:t>• Why SQLite instead of MySQL/PostgreSQL?</a:t>
            </a:r>
          </a:p>
          <a:p>
            <a:pPr>
              <a:spcAft>
                <a:spcPts val="800"/>
              </a:spcAft>
              <a:defRPr sz="2200">
                <a:solidFill>
                  <a:srgbClr val="F4F8FC"/>
                </a:solidFill>
              </a:defRPr>
            </a:pPr>
            <a:r>
              <a:t>• How is password security implemented?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What happens if Twilio keys are missing?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How does role-based access control work?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How do reminders avoid duplicate notifications?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Suggested answers (short):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SQLite is simple and sufficient for prototype/small deployments.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PBKDF2 with salt protects passwords.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System falls back to simulated status (missing_twilio_config).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Backend checks token + role before protected routes.</a:t>
            </a:r>
          </a:p>
          <a:p>
            <a:pPr>
              <a:spcAft>
                <a:spcPts val="800"/>
              </a:spcAft>
              <a:defRPr sz="1900">
                <a:solidFill>
                  <a:srgbClr val="F4F8FC"/>
                </a:solidFill>
              </a:defRPr>
            </a:pPr>
            <a:r>
              <a:t>• Notifications table uses unique event keys to prevent duplicates.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2636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9CEE4"/>
                </a:solidFill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